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233955C-5340-40FC-8855-38171FEC271C}" v="109" dt="2026-03-24T22:18:42.83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10" d="100"/>
          <a:sy n="110" d="100"/>
        </p:scale>
        <p:origin x="-558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x x" userId="31a171870e3401ae" providerId="Windows Live" clId="Web-{B233955C-5340-40FC-8855-38171FEC271C}"/>
    <pc:docChg chg="modSld">
      <pc:chgData name="x x" userId="31a171870e3401ae" providerId="Windows Live" clId="Web-{B233955C-5340-40FC-8855-38171FEC271C}" dt="2026-03-24T22:18:42.838" v="55" actId="20577"/>
      <pc:docMkLst>
        <pc:docMk/>
      </pc:docMkLst>
      <pc:sldChg chg="modSp">
        <pc:chgData name="x x" userId="31a171870e3401ae" providerId="Windows Live" clId="Web-{B233955C-5340-40FC-8855-38171FEC271C}" dt="2026-03-24T22:18:42.838" v="55" actId="20577"/>
        <pc:sldMkLst>
          <pc:docMk/>
          <pc:sldMk cId="0" sldId="256"/>
        </pc:sldMkLst>
        <pc:spChg chg="mod">
          <ac:chgData name="x x" userId="31a171870e3401ae" providerId="Windows Live" clId="Web-{B233955C-5340-40FC-8855-38171FEC271C}" dt="2026-03-24T22:18:42.838" v="55" actId="20577"/>
          <ac:spMkLst>
            <pc:docMk/>
            <pc:sldMk cId="0" sldId="256"/>
            <ac:spMk id="7" creationId="{00000000-0000-0000-0000-000000000000}"/>
          </ac:spMkLst>
        </pc:spChg>
      </pc:sldChg>
      <pc:sldChg chg="modSp">
        <pc:chgData name="x x" userId="31a171870e3401ae" providerId="Windows Live" clId="Web-{B233955C-5340-40FC-8855-38171FEC271C}" dt="2026-03-24T22:17:33.853" v="42" actId="1076"/>
        <pc:sldMkLst>
          <pc:docMk/>
          <pc:sldMk cId="0" sldId="258"/>
        </pc:sldMkLst>
        <pc:picChg chg="mod">
          <ac:chgData name="x x" userId="31a171870e3401ae" providerId="Windows Live" clId="Web-{B233955C-5340-40FC-8855-38171FEC271C}" dt="2026-03-24T22:17:33.853" v="42" actId="1076"/>
          <ac:picMkLst>
            <pc:docMk/>
            <pc:sldMk cId="0" sldId="258"/>
            <ac:picMk id="1026" creationId="{00000000-0000-0000-0000-000000000000}"/>
          </ac:picMkLst>
        </pc:picChg>
      </pc:sldChg>
      <pc:sldChg chg="modSp">
        <pc:chgData name="x x" userId="31a171870e3401ae" providerId="Windows Live" clId="Web-{B233955C-5340-40FC-8855-38171FEC271C}" dt="2026-03-24T22:18:14.963" v="48" actId="20577"/>
        <pc:sldMkLst>
          <pc:docMk/>
          <pc:sldMk cId="0" sldId="259"/>
        </pc:sldMkLst>
        <pc:spChg chg="mod">
          <ac:chgData name="x x" userId="31a171870e3401ae" providerId="Windows Live" clId="Web-{B233955C-5340-40FC-8855-38171FEC271C}" dt="2026-03-24T22:18:14.963" v="48" actId="20577"/>
          <ac:spMkLst>
            <pc:docMk/>
            <pc:sldMk cId="0" sldId="259"/>
            <ac:spMk id="4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003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8686800" y="5029200"/>
            <a:ext cx="2743200" cy="2743200"/>
          </a:xfrm>
          <a:prstGeom prst="ellipse">
            <a:avLst/>
          </a:prstGeom>
          <a:solidFill>
            <a:srgbClr val="E6F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0">
                <a:solidFill>
                  <a:srgbClr val="003340"/>
                </a:solidFill>
                <a:latin typeface="Calibri Light"/>
              </a:defRPr>
            </a:pPr>
            <a:r>
              <a:t>Разработка информационной системы</a:t>
            </a:r>
          </a:p>
          <a:p>
            <a:pPr>
              <a:defRPr sz="4000" b="1">
                <a:solidFill>
                  <a:srgbClr val="212121"/>
                </a:solidFill>
                <a:latin typeface="Calibri"/>
              </a:defRPr>
            </a:pPr>
            <a:r>
              <a:t>«Учет преподавателей и учебной нагрузки ВУЗа»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47472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646464"/>
                </a:solidFill>
              </a:defRPr>
            </a:pPr>
            <a:r>
              <a:t>Курсовая работа по дисциплине «Базы данных»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200471"/>
            <a:ext cx="5486400" cy="120032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 sz="1600">
                <a:solidFill>
                  <a:srgbClr val="646464"/>
                </a:solidFill>
              </a:defRPr>
            </a:pPr>
            <a:r>
              <a:rPr lang="ru-RU" dirty="0"/>
              <a:t>Руководитель</a:t>
            </a:r>
            <a:r>
              <a:rPr dirty="0"/>
              <a:t>:</a:t>
            </a:r>
            <a:r>
              <a:rPr lang="ru-RU"/>
              <a:t> Леденев Ю.</a:t>
            </a:r>
            <a:endParaRPr dirty="0"/>
          </a:p>
          <a:p>
            <a:pPr>
              <a:defRPr sz="2000" b="1">
                <a:solidFill>
                  <a:srgbClr val="212121"/>
                </a:solidFill>
              </a:defRPr>
            </a:pPr>
            <a:r>
              <a:rPr dirty="0" err="1"/>
              <a:t>Студент</a:t>
            </a:r>
            <a:r>
              <a:rPr lang="en-US" dirty="0"/>
              <a:t>:</a:t>
            </a:r>
            <a:r>
              <a:rPr lang="ru-RU" dirty="0"/>
              <a:t> Уколов М.</a:t>
            </a:r>
            <a:endParaRPr dirty="0"/>
          </a:p>
          <a:p>
            <a:br>
              <a:rPr dirty="0"/>
            </a:br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731520" y="6400800"/>
            <a:ext cx="601447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46464"/>
                </a:solidFill>
              </a:defRPr>
            </a:pPr>
            <a:r>
              <a:rPr dirty="0"/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03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 Light"/>
              </a:defRPr>
            </a:pPr>
            <a:r>
              <a:t>Цели и задачи проекта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 b="1">
                <a:solidFill>
                  <a:srgbClr val="003340"/>
                </a:solidFill>
                <a:latin typeface="Calibri"/>
              </a:rPr>
              <a:t>Цель:</a:t>
            </a:r>
            <a:r>
              <a:rPr sz="2200">
                <a:solidFill>
                  <a:srgbClr val="212121"/>
                </a:solidFill>
                <a:latin typeface="Calibri"/>
              </a:rPr>
              <a:t> Автоматизация учета кадрового состава и распределения учебных часов.</a:t>
            </a:r>
          </a:p>
          <a:p>
            <a:pPr>
              <a:spcAft>
                <a:spcPts val="1200"/>
              </a:spcAft>
            </a:pPr>
            <a:r>
              <a:rPr sz="2200" b="1">
                <a:solidFill>
                  <a:srgbClr val="003340"/>
                </a:solidFill>
                <a:latin typeface="Calibri"/>
              </a:rPr>
              <a:t>Задачи:</a:t>
            </a:r>
          </a:p>
          <a:p>
            <a:pPr>
              <a:spcAft>
                <a:spcPts val="1200"/>
              </a:spcAft>
              <a:defRPr sz="2200">
                <a:solidFill>
                  <a:srgbClr val="212121"/>
                </a:solidFill>
                <a:latin typeface="Calibri"/>
              </a:defRPr>
            </a:pPr>
            <a:r>
              <a:t>•  Проектирование реляционной структуры в СУБД PostgreSQL.</a:t>
            </a:r>
          </a:p>
          <a:p>
            <a:pPr>
              <a:spcAft>
                <a:spcPts val="1200"/>
              </a:spcAft>
              <a:defRPr sz="2200">
                <a:solidFill>
                  <a:srgbClr val="212121"/>
                </a:solidFill>
                <a:latin typeface="Calibri"/>
              </a:defRPr>
            </a:pPr>
            <a:r>
              <a:t>•  Разработка клиентского приложения на языке C# (WinForms).</a:t>
            </a:r>
          </a:p>
          <a:p>
            <a:pPr>
              <a:spcAft>
                <a:spcPts val="1200"/>
              </a:spcAft>
              <a:defRPr sz="2200">
                <a:solidFill>
                  <a:srgbClr val="212121"/>
                </a:solidFill>
                <a:latin typeface="Calibri"/>
              </a:defRPr>
            </a:pPr>
            <a:r>
              <a:t>•  Реализация многоуровневой системы защиты данных (RBAC).</a:t>
            </a:r>
          </a:p>
          <a:p>
            <a:pPr>
              <a:spcAft>
                <a:spcPts val="1200"/>
              </a:spcAft>
              <a:defRPr sz="2200">
                <a:solidFill>
                  <a:srgbClr val="212121"/>
                </a:solidFill>
                <a:latin typeface="Calibri"/>
              </a:defRPr>
            </a:pPr>
            <a:r>
              <a:t>•  Создание модуля генерации отчетности в формате CSV.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400800"/>
            <a:ext cx="11247120" cy="18288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03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 Light"/>
              </a:defRPr>
            </a:pPr>
            <a:r>
              <a:t>Проектирование базы данных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212121"/>
                </a:solidFill>
                <a:latin typeface="Calibri"/>
              </a:defRPr>
            </a:pPr>
            <a:r>
              <a:t>•  Структура БД приведена к 3-й нормальной форме (7 таблиц).</a:t>
            </a:r>
          </a:p>
          <a:p>
            <a:pPr>
              <a:spcAft>
                <a:spcPts val="1200"/>
              </a:spcAft>
              <a:defRPr sz="2200">
                <a:solidFill>
                  <a:srgbClr val="212121"/>
                </a:solidFill>
                <a:latin typeface="Calibri"/>
              </a:defRPr>
            </a:pPr>
            <a:r>
              <a:t>•  Центральный элемент: таблица teaching_load (связь «многие-ко-многим»).</a:t>
            </a:r>
          </a:p>
          <a:p>
            <a:pPr>
              <a:spcAft>
                <a:spcPts val="1200"/>
              </a:spcAft>
              <a:defRPr sz="2200">
                <a:solidFill>
                  <a:srgbClr val="212121"/>
                </a:solidFill>
                <a:latin typeface="Calibri"/>
              </a:defRPr>
            </a:pPr>
            <a:r>
              <a:t>•  Использование внешних ключей (FK) и каскадных правил.</a:t>
            </a:r>
          </a:p>
        </p:txBody>
      </p:sp>
      <p:pic>
        <p:nvPicPr>
          <p:cNvPr id="1026" name="Picture 2" descr="C:\Users\User\Downloads\yy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7599" y="-1369"/>
            <a:ext cx="4724095" cy="68593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03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 Light"/>
              </a:defRPr>
            </a:pPr>
            <a:r>
              <a:t>Функциональные возможности системы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515600" cy="190821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212121"/>
                </a:solidFill>
                <a:latin typeface="Calibri"/>
              </a:defRPr>
            </a:pPr>
            <a:r>
              <a:rPr dirty="0"/>
              <a:t>•  </a:t>
            </a:r>
            <a:r>
              <a:rPr dirty="0" err="1"/>
              <a:t>Учет</a:t>
            </a:r>
            <a:r>
              <a:rPr dirty="0"/>
              <a:t> </a:t>
            </a:r>
            <a:r>
              <a:rPr dirty="0" err="1"/>
              <a:t>кадров</a:t>
            </a:r>
            <a:r>
              <a:rPr dirty="0"/>
              <a:t>: </a:t>
            </a:r>
            <a:r>
              <a:rPr dirty="0" err="1"/>
              <a:t>Ведение</a:t>
            </a:r>
            <a:r>
              <a:rPr dirty="0"/>
              <a:t> </a:t>
            </a:r>
            <a:r>
              <a:rPr dirty="0" err="1"/>
              <a:t>реестра</a:t>
            </a:r>
            <a:r>
              <a:rPr dirty="0"/>
              <a:t> </a:t>
            </a:r>
            <a:r>
              <a:rPr dirty="0" err="1"/>
              <a:t>преподавателей</a:t>
            </a:r>
            <a:r>
              <a:rPr dirty="0"/>
              <a:t> (</a:t>
            </a:r>
            <a:r>
              <a:rPr dirty="0" err="1"/>
              <a:t>кафедры</a:t>
            </a:r>
            <a:r>
              <a:rPr dirty="0"/>
              <a:t>, </a:t>
            </a:r>
            <a:r>
              <a:rPr dirty="0" err="1"/>
              <a:t>должности</a:t>
            </a:r>
            <a:r>
              <a:rPr dirty="0"/>
              <a:t>).</a:t>
            </a:r>
          </a:p>
          <a:p>
            <a:pPr>
              <a:spcAft>
                <a:spcPts val="1200"/>
              </a:spcAft>
              <a:defRPr sz="2200">
                <a:solidFill>
                  <a:srgbClr val="212121"/>
                </a:solidFill>
                <a:latin typeface="Calibri"/>
              </a:defRPr>
            </a:pPr>
            <a:r>
              <a:rPr dirty="0"/>
              <a:t>•  </a:t>
            </a:r>
            <a:r>
              <a:rPr dirty="0" err="1"/>
              <a:t>Управление</a:t>
            </a:r>
            <a:r>
              <a:rPr dirty="0"/>
              <a:t> </a:t>
            </a:r>
            <a:r>
              <a:rPr dirty="0" err="1"/>
              <a:t>нагрузкой</a:t>
            </a:r>
            <a:r>
              <a:rPr dirty="0"/>
              <a:t>: </a:t>
            </a:r>
            <a:r>
              <a:rPr dirty="0" err="1"/>
              <a:t>Учет</a:t>
            </a:r>
            <a:r>
              <a:rPr dirty="0"/>
              <a:t> </a:t>
            </a:r>
            <a:r>
              <a:rPr dirty="0" err="1"/>
              <a:t>дисциплин</a:t>
            </a:r>
            <a:r>
              <a:rPr dirty="0"/>
              <a:t>, </a:t>
            </a:r>
            <a:r>
              <a:rPr dirty="0" err="1"/>
              <a:t>часов</a:t>
            </a:r>
            <a:r>
              <a:rPr dirty="0"/>
              <a:t>, </a:t>
            </a:r>
            <a:r>
              <a:rPr dirty="0" err="1"/>
              <a:t>семестров</a:t>
            </a:r>
            <a:r>
              <a:rPr dirty="0"/>
              <a:t>.</a:t>
            </a:r>
            <a:endParaRPr dirty="0">
              <a:ea typeface="Calibri"/>
              <a:cs typeface="Calibri"/>
            </a:endParaRPr>
          </a:p>
          <a:p>
            <a:pPr>
              <a:spcAft>
                <a:spcPts val="1200"/>
              </a:spcAft>
              <a:defRPr sz="2200">
                <a:solidFill>
                  <a:srgbClr val="212121"/>
                </a:solidFill>
                <a:latin typeface="Calibri"/>
              </a:defRPr>
            </a:pPr>
            <a:r>
              <a:rPr dirty="0"/>
              <a:t>•  </a:t>
            </a:r>
            <a:r>
              <a:rPr dirty="0" err="1"/>
              <a:t>Поиск</a:t>
            </a:r>
            <a:r>
              <a:rPr dirty="0"/>
              <a:t> и </a:t>
            </a:r>
            <a:r>
              <a:rPr dirty="0" err="1"/>
              <a:t>фильтрация</a:t>
            </a:r>
            <a:r>
              <a:rPr dirty="0"/>
              <a:t>: Динамический </a:t>
            </a:r>
            <a:r>
              <a:rPr dirty="0" err="1"/>
              <a:t>поиск</a:t>
            </a:r>
            <a:r>
              <a:rPr dirty="0"/>
              <a:t> </a:t>
            </a:r>
            <a:r>
              <a:rPr dirty="0" err="1"/>
              <a:t>по</a:t>
            </a:r>
            <a:r>
              <a:rPr dirty="0"/>
              <a:t> ФИО </a:t>
            </a:r>
            <a:r>
              <a:rPr dirty="0" err="1"/>
              <a:t>без</a:t>
            </a:r>
            <a:r>
              <a:rPr dirty="0"/>
              <a:t> </a:t>
            </a:r>
            <a:r>
              <a:rPr dirty="0" err="1"/>
              <a:t>перезагрузки</a:t>
            </a:r>
            <a:r>
              <a:rPr dirty="0"/>
              <a:t>.</a:t>
            </a:r>
            <a:endParaRPr dirty="0">
              <a:ea typeface="Calibri"/>
              <a:cs typeface="Calibri"/>
            </a:endParaRPr>
          </a:p>
          <a:p>
            <a:pPr>
              <a:spcAft>
                <a:spcPts val="1200"/>
              </a:spcAft>
              <a:defRPr sz="2200">
                <a:solidFill>
                  <a:srgbClr val="212121"/>
                </a:solidFill>
                <a:latin typeface="Calibri"/>
              </a:defRPr>
            </a:pPr>
            <a:r>
              <a:rPr dirty="0"/>
              <a:t>•  </a:t>
            </a:r>
            <a:r>
              <a:rPr dirty="0" err="1"/>
              <a:t>Отчетность</a:t>
            </a:r>
            <a:r>
              <a:rPr dirty="0"/>
              <a:t>: </a:t>
            </a:r>
            <a:r>
              <a:rPr dirty="0" err="1"/>
              <a:t>Выгрузка</a:t>
            </a:r>
            <a:r>
              <a:rPr dirty="0"/>
              <a:t> </a:t>
            </a:r>
            <a:r>
              <a:rPr dirty="0" err="1"/>
              <a:t>данных</a:t>
            </a:r>
            <a:r>
              <a:rPr dirty="0"/>
              <a:t> в </a:t>
            </a:r>
            <a:r>
              <a:rPr dirty="0" err="1"/>
              <a:t>формат</a:t>
            </a:r>
            <a:r>
              <a:rPr dirty="0"/>
              <a:t> CSV</a:t>
            </a:r>
            <a:r>
              <a:rPr lang="ru-RU" dirty="0"/>
              <a:t>, TXT.</a:t>
            </a:r>
            <a:endParaRPr dirty="0"/>
          </a:p>
        </p:txBody>
      </p:sp>
      <p:sp>
        <p:nvSpPr>
          <p:cNvPr id="5" name="Rectangle 4"/>
          <p:cNvSpPr/>
          <p:nvPr/>
        </p:nvSpPr>
        <p:spPr>
          <a:xfrm>
            <a:off x="457200" y="6400800"/>
            <a:ext cx="11247120" cy="18288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03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 Light"/>
              </a:defRPr>
            </a:pPr>
            <a:r>
              <a:t>Мероприятия по защите данных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 b="1">
                <a:solidFill>
                  <a:srgbClr val="003340"/>
                </a:solidFill>
                <a:latin typeface="Calibri"/>
              </a:rPr>
              <a:t>Ролевая модель:</a:t>
            </a:r>
            <a:r>
              <a:rPr sz="2200">
                <a:solidFill>
                  <a:srgbClr val="212121"/>
                </a:solidFill>
                <a:latin typeface="Calibri"/>
              </a:rPr>
              <a:t> Администратор (полный доступ) и Оператор (просмотр/редактирование).</a:t>
            </a:r>
          </a:p>
          <a:p>
            <a:pPr>
              <a:spcAft>
                <a:spcPts val="1200"/>
              </a:spcAft>
              <a:defRPr sz="2200">
                <a:solidFill>
                  <a:srgbClr val="212121"/>
                </a:solidFill>
                <a:latin typeface="Calibri"/>
              </a:defRPr>
            </a:pPr>
            <a:r>
              <a:t>•  Безопасность интерфейса: Маскирование паролей (символы *), блокировка системных окон.</a:t>
            </a:r>
          </a:p>
          <a:p>
            <a:pPr>
              <a:spcAft>
                <a:spcPts val="1200"/>
              </a:spcAft>
              <a:defRPr sz="2200">
                <a:solidFill>
                  <a:srgbClr val="212121"/>
                </a:solidFill>
                <a:latin typeface="Calibri"/>
              </a:defRPr>
            </a:pPr>
            <a:r>
              <a:t>•  Техническая защита: Параметризованные SQL-запросы (защита от SQL-инъекций).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400800"/>
            <a:ext cx="11247120" cy="18288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03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 Light"/>
              </a:defRPr>
            </a:pPr>
            <a:r>
              <a:t>Заключение и итоги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 b="1">
                <a:solidFill>
                  <a:srgbClr val="003340"/>
                </a:solidFill>
                <a:latin typeface="Calibri"/>
              </a:rPr>
              <a:t>Результат:</a:t>
            </a:r>
            <a:r>
              <a:rPr sz="2200">
                <a:solidFill>
                  <a:srgbClr val="212121"/>
                </a:solidFill>
                <a:latin typeface="Calibri"/>
              </a:rPr>
              <a:t> Создана масштабируемая система с защищенным доступом.</a:t>
            </a:r>
          </a:p>
          <a:p>
            <a:pPr>
              <a:spcAft>
                <a:spcPts val="1200"/>
              </a:spcAft>
              <a:defRPr sz="2200">
                <a:solidFill>
                  <a:srgbClr val="212121"/>
                </a:solidFill>
                <a:latin typeface="Calibri"/>
              </a:defRPr>
            </a:pPr>
            <a:r>
              <a:t>•  Технологический стек: С# .NET, PostgreSQL, Npgsql.</a:t>
            </a:r>
          </a:p>
          <a:p>
            <a:pPr>
              <a:spcAft>
                <a:spcPts val="1200"/>
              </a:spcAft>
              <a:defRPr sz="2200">
                <a:solidFill>
                  <a:srgbClr val="212121"/>
                </a:solidFill>
                <a:latin typeface="Calibri"/>
              </a:defRPr>
            </a:pPr>
            <a:r>
              <a:t>•  Практическая значимость: Снижение трудозатрат на рутинный учет.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400800"/>
            <a:ext cx="11247120" cy="18288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238</Words>
  <Application>Microsoft Office PowerPoint</Application>
  <PresentationFormat>Широкоэкранный</PresentationFormat>
  <Paragraphs>31</Paragraphs>
  <Slides>6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7" baseType="lpstr"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/>
  <cp:keywords/>
  <dc:description>generated using python-pptx</dc:description>
  <cp:lastModifiedBy>Пользователь</cp:lastModifiedBy>
  <cp:revision>22</cp:revision>
  <dcterms:created xsi:type="dcterms:W3CDTF">2013-01-27T09:14:16Z</dcterms:created>
  <dcterms:modified xsi:type="dcterms:W3CDTF">2026-03-24T22:18:44Z</dcterms:modified>
  <cp:category/>
</cp:coreProperties>
</file>